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165" autoAdjust="0"/>
  </p:normalViewPr>
  <p:slideViewPr>
    <p:cSldViewPr snapToGrid="0">
      <p:cViewPr varScale="1">
        <p:scale>
          <a:sx n="60" d="100"/>
          <a:sy n="60" d="100"/>
        </p:scale>
        <p:origin x="9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35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6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0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7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09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63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83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52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75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7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453B4-9D78-42A9-B789-4D4D19DDF512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B05BF-CF64-4708-AB87-E65AF2D6B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3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47101" y="547041"/>
            <a:ext cx="98768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/>
              <a:t>⭐ What is Maven?</a:t>
            </a:r>
          </a:p>
          <a:p>
            <a:r>
              <a:rPr lang="en-GB" sz="2800" b="1" dirty="0" smtClean="0"/>
              <a:t>Apache Maven</a:t>
            </a:r>
            <a:r>
              <a:rPr lang="en-GB" sz="2800" dirty="0" smtClean="0"/>
              <a:t> is a </a:t>
            </a:r>
            <a:r>
              <a:rPr lang="en-GB" sz="2800" b="1" dirty="0" smtClean="0"/>
              <a:t>build automation tool</a:t>
            </a:r>
            <a:r>
              <a:rPr lang="en-GB" sz="2800" dirty="0" smtClean="0"/>
              <a:t> used mainly for </a:t>
            </a:r>
            <a:r>
              <a:rPr lang="en-GB" sz="2800" b="1" dirty="0" smtClean="0"/>
              <a:t>Java projects</a:t>
            </a:r>
            <a:r>
              <a:rPr lang="en-GB" sz="2800" dirty="0" smtClean="0"/>
              <a:t>.</a:t>
            </a:r>
            <a:br>
              <a:rPr lang="en-GB" sz="2800" dirty="0" smtClean="0"/>
            </a:br>
            <a:r>
              <a:rPr lang="en-GB" sz="2800" dirty="0" smtClean="0"/>
              <a:t>Its main purpose is to manage: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 smtClean="0"/>
              <a:t>Project </a:t>
            </a:r>
            <a:r>
              <a:rPr lang="en-GB" sz="2800" b="1" dirty="0" smtClean="0"/>
              <a:t>build</a:t>
            </a:r>
            <a:endParaRPr lang="en-GB" sz="2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 smtClean="0"/>
              <a:t>Project </a:t>
            </a:r>
            <a:r>
              <a:rPr lang="en-GB" sz="2800" b="1" dirty="0" smtClean="0"/>
              <a:t>dependencies</a:t>
            </a:r>
            <a:endParaRPr lang="en-GB" sz="2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 smtClean="0"/>
              <a:t>Project </a:t>
            </a:r>
            <a:r>
              <a:rPr lang="en-GB" sz="2800" b="1" dirty="0" smtClean="0"/>
              <a:t>lifecycle</a:t>
            </a:r>
            <a:endParaRPr lang="en-GB" sz="2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800" dirty="0" smtClean="0"/>
              <a:t>Project </a:t>
            </a:r>
            <a:r>
              <a:rPr lang="en-GB" sz="2800" b="1" dirty="0" smtClean="0"/>
              <a:t>structure</a:t>
            </a:r>
            <a:endParaRPr lang="en-GB" sz="2800" dirty="0" smtClean="0"/>
          </a:p>
          <a:p>
            <a:r>
              <a:rPr lang="en-GB" sz="2800" dirty="0" smtClean="0"/>
              <a:t>Maven makes projects </a:t>
            </a:r>
            <a:r>
              <a:rPr lang="en-GB" sz="2800" b="1" dirty="0" smtClean="0"/>
              <a:t>easy to create, build, test, and deploy</a:t>
            </a:r>
            <a:r>
              <a:rPr lang="en-GB" sz="2800" dirty="0" smtClean="0"/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2356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40642" y="876693"/>
            <a:ext cx="99735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b="1" dirty="0" smtClean="0"/>
              <a:t>⭐ 1. Why Maven? (Problems it solves)</a:t>
            </a:r>
          </a:p>
          <a:p>
            <a:pPr lvl="2" algn="just"/>
            <a:r>
              <a:rPr lang="en-GB" sz="2800" b="1" dirty="0" smtClean="0"/>
              <a:t>❌ Without Maven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You must manually add JAR files.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Managing versions is difficult.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Large projects need complex build scripts.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Moving project to another system causes dependency issues.</a:t>
            </a:r>
          </a:p>
          <a:p>
            <a:pPr algn="just"/>
            <a:r>
              <a:rPr lang="en-GB" sz="2800" b="1" dirty="0" smtClean="0"/>
              <a:t>	✔ With Maven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Automatically downloads all required JARs.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Maintains proper versioning.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Simplifies build → test → run → package.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Standard directory structure.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GB" sz="2800" dirty="0" smtClean="0"/>
              <a:t>Works the same on any system.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386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8730" y="439515"/>
            <a:ext cx="8484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⭐ 2. Key Concept: POM (Project Object Model)</a:t>
            </a:r>
          </a:p>
          <a:p>
            <a:r>
              <a:rPr lang="en-IN" sz="2400" dirty="0" smtClean="0"/>
              <a:t>Every Maven project contains a file:</a:t>
            </a:r>
          </a:p>
          <a:p>
            <a:r>
              <a:rPr lang="en-IN" sz="2400" dirty="0" smtClean="0"/>
              <a:t>📌 </a:t>
            </a:r>
            <a:r>
              <a:rPr lang="en-IN" sz="2400" b="1" dirty="0" smtClean="0"/>
              <a:t>pom.xml</a:t>
            </a:r>
            <a:endParaRPr lang="en-IN" sz="2400" dirty="0" smtClean="0"/>
          </a:p>
          <a:p>
            <a:r>
              <a:rPr lang="en-IN" sz="2400" dirty="0" smtClean="0"/>
              <a:t>This file controls the entire project.</a:t>
            </a:r>
          </a:p>
          <a:p>
            <a:r>
              <a:rPr lang="en-IN" sz="2400" dirty="0" smtClean="0"/>
              <a:t>It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smtClean="0"/>
              <a:t>Project info (name, version, artifactId)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smtClean="0"/>
              <a:t>Dependencies (JAR files)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smtClean="0"/>
              <a:t>Plugins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smtClean="0"/>
              <a:t>Build configuration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200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849" y="688157"/>
            <a:ext cx="10070969" cy="5410986"/>
          </a:xfrm>
        </p:spPr>
        <p:txBody>
          <a:bodyPr/>
          <a:lstStyle/>
          <a:p>
            <a:pPr algn="l"/>
            <a:r>
              <a:rPr lang="en-GB" dirty="0" smtClean="0"/>
              <a:t>Example: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59497" y="1079099"/>
            <a:ext cx="925083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&lt;project&gt;</a:t>
            </a:r>
          </a:p>
          <a:p>
            <a:r>
              <a:rPr lang="en-IN" sz="2400" dirty="0" smtClean="0"/>
              <a:t>    &lt;modelVersion&gt;4.0.0&lt;/modelVersion&gt;</a:t>
            </a:r>
          </a:p>
          <a:p>
            <a:r>
              <a:rPr lang="en-IN" sz="2400" dirty="0" smtClean="0"/>
              <a:t>    &lt;groupId&gt;</a:t>
            </a:r>
            <a:r>
              <a:rPr lang="en-IN" sz="2400" dirty="0" err="1" smtClean="0"/>
              <a:t>com.example</a:t>
            </a:r>
            <a:r>
              <a:rPr lang="en-IN" sz="2400" dirty="0" smtClean="0"/>
              <a:t>&lt;/groupId&gt;</a:t>
            </a:r>
          </a:p>
          <a:p>
            <a:r>
              <a:rPr lang="en-IN" sz="2400" dirty="0" smtClean="0"/>
              <a:t>    &lt;artifactId&gt;</a:t>
            </a:r>
            <a:r>
              <a:rPr lang="en-IN" sz="2400" dirty="0" err="1" smtClean="0"/>
              <a:t>myproject</a:t>
            </a:r>
            <a:r>
              <a:rPr lang="en-IN" sz="2400" dirty="0" smtClean="0"/>
              <a:t>&lt;/artifactId&gt;</a:t>
            </a:r>
          </a:p>
          <a:p>
            <a:r>
              <a:rPr lang="en-IN" sz="2400" dirty="0" smtClean="0"/>
              <a:t>    &lt;version&gt;1.0-SNAPSHOT&lt;/version&gt;</a:t>
            </a:r>
          </a:p>
          <a:p>
            <a:r>
              <a:rPr lang="en-IN" sz="2400" dirty="0" smtClean="0"/>
              <a:t>    &lt;dependencies&gt;</a:t>
            </a:r>
          </a:p>
          <a:p>
            <a:r>
              <a:rPr lang="en-IN" sz="2400" dirty="0" smtClean="0"/>
              <a:t>        &lt;dependency&gt;</a:t>
            </a:r>
          </a:p>
          <a:p>
            <a:r>
              <a:rPr lang="en-IN" sz="2400" dirty="0" smtClean="0"/>
              <a:t>            &lt;groupId&gt;</a:t>
            </a:r>
            <a:r>
              <a:rPr lang="en-IN" sz="2400" dirty="0" err="1" smtClean="0"/>
              <a:t>mysql</a:t>
            </a:r>
            <a:r>
              <a:rPr lang="en-IN" sz="2400" dirty="0" smtClean="0"/>
              <a:t>&lt;/groupId&gt;</a:t>
            </a:r>
          </a:p>
          <a:p>
            <a:r>
              <a:rPr lang="en-IN" sz="2400" dirty="0" smtClean="0"/>
              <a:t>            &lt;artifactId&gt;</a:t>
            </a:r>
            <a:r>
              <a:rPr lang="en-IN" sz="2400" dirty="0" err="1" smtClean="0"/>
              <a:t>mysql</a:t>
            </a:r>
            <a:r>
              <a:rPr lang="en-IN" sz="2400" dirty="0" smtClean="0"/>
              <a:t>-connector-java&lt;/artifactId&gt;</a:t>
            </a:r>
          </a:p>
          <a:p>
            <a:r>
              <a:rPr lang="en-IN" sz="2400" dirty="0" smtClean="0"/>
              <a:t>            &lt;version&gt;8.0.33&lt;/version&gt;</a:t>
            </a:r>
          </a:p>
          <a:p>
            <a:r>
              <a:rPr lang="en-IN" sz="2400" dirty="0" smtClean="0"/>
              <a:t>        &lt;/dependency&gt;</a:t>
            </a:r>
          </a:p>
          <a:p>
            <a:r>
              <a:rPr lang="en-IN" sz="2400" dirty="0" smtClean="0"/>
              <a:t>    &lt;/dependencies&gt;</a:t>
            </a:r>
          </a:p>
          <a:p>
            <a:r>
              <a:rPr lang="en-IN" sz="2400" dirty="0" smtClean="0"/>
              <a:t>&lt;/project&gt;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2314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691" y="1607302"/>
            <a:ext cx="7456602" cy="473693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5450" y="899416"/>
            <a:ext cx="5996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/>
              <a:t>⭐ 3. </a:t>
            </a:r>
            <a:r>
              <a:rPr lang="en-IN" sz="2800" b="1" dirty="0" smtClean="0"/>
              <a:t>Standard Maven Project Structure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0075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14" y="424206"/>
            <a:ext cx="8182466" cy="580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3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pPr algn="l"/>
            <a:r>
              <a:rPr lang="en-GB" dirty="0" smtClean="0"/>
              <a:t>⭐ 5. Repositories in Maven</a:t>
            </a:r>
          </a:p>
          <a:p>
            <a:pPr algn="l"/>
            <a:r>
              <a:rPr lang="en-GB" dirty="0" smtClean="0"/>
              <a:t>Maven uses 3 types of repositories:</a:t>
            </a:r>
          </a:p>
          <a:p>
            <a:pPr algn="l"/>
            <a:r>
              <a:rPr lang="en-GB" dirty="0" smtClean="0"/>
              <a:t>1.   Local Repository</a:t>
            </a:r>
          </a:p>
          <a:p>
            <a:pPr lvl="2" algn="l"/>
            <a:r>
              <a:rPr lang="en-GB" sz="2400" dirty="0"/>
              <a:t>Your PC folder where downloaded JARs are stored</a:t>
            </a:r>
          </a:p>
          <a:p>
            <a:pPr lvl="2" algn="l"/>
            <a:r>
              <a:rPr lang="en-GB" sz="2400" dirty="0"/>
              <a:t>Example: C:\Users\username\.m2\repository</a:t>
            </a:r>
          </a:p>
          <a:p>
            <a:pPr algn="l"/>
            <a:r>
              <a:rPr lang="en-GB" dirty="0" smtClean="0"/>
              <a:t>2️.   Central Repository</a:t>
            </a:r>
          </a:p>
          <a:p>
            <a:pPr lvl="2" algn="l"/>
            <a:r>
              <a:rPr lang="en-GB" sz="2400" dirty="0"/>
              <a:t>Public repository provided by Maven</a:t>
            </a:r>
          </a:p>
          <a:p>
            <a:pPr lvl="2" algn="l"/>
            <a:r>
              <a:rPr lang="en-GB" sz="2400" dirty="0"/>
              <a:t>Contains most Java libraries.</a:t>
            </a:r>
          </a:p>
          <a:p>
            <a:pPr algn="l"/>
            <a:r>
              <a:rPr lang="en-GB" dirty="0" smtClean="0"/>
              <a:t>3️.   Remote Repository</a:t>
            </a:r>
          </a:p>
          <a:p>
            <a:pPr lvl="2" algn="l"/>
            <a:r>
              <a:rPr lang="en-GB" sz="2400" dirty="0" smtClean="0"/>
              <a:t>Company/organization's repository (Nexus, </a:t>
            </a:r>
            <a:r>
              <a:rPr lang="en-GB" sz="2400" dirty="0" err="1" smtClean="0"/>
              <a:t>Artifactory</a:t>
            </a:r>
            <a:r>
              <a:rPr lang="en-GB" sz="2400" dirty="0" smtClean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299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917542" y="547041"/>
            <a:ext cx="10102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⭐ 6. What is a Dependency?</a:t>
            </a:r>
          </a:p>
          <a:p>
            <a:r>
              <a:rPr lang="en-GB" sz="2400" dirty="0" smtClean="0"/>
              <a:t>Dependency means the external jar libraries your project needs.</a:t>
            </a:r>
          </a:p>
          <a:p>
            <a:r>
              <a:rPr lang="en-GB" sz="2400" dirty="0" smtClean="0"/>
              <a:t>Example:</a:t>
            </a:r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5" y="1747370"/>
            <a:ext cx="6730738" cy="474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19580" y="464892"/>
            <a:ext cx="9272832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/>
              <a:t>⭐ 7. What is a Plugin?</a:t>
            </a:r>
          </a:p>
          <a:p>
            <a:r>
              <a:rPr lang="en-GB" sz="2000" b="1" dirty="0"/>
              <a:t> </a:t>
            </a:r>
            <a:r>
              <a:rPr lang="en-GB" sz="2000" b="1" dirty="0" smtClean="0"/>
              <a:t>        </a:t>
            </a:r>
            <a:r>
              <a:rPr lang="en-GB" sz="2000" dirty="0" smtClean="0"/>
              <a:t>Plugins perform actions like: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smtClean="0"/>
              <a:t>Compile Java code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smtClean="0"/>
              <a:t>Run tests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smtClean="0"/>
              <a:t>Build JAR/WAR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smtClean="0"/>
              <a:t>Generate documentation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 smtClean="0"/>
              <a:t>Run your project</a:t>
            </a:r>
          </a:p>
          <a:p>
            <a:r>
              <a:rPr lang="en-GB" sz="2000" b="1" dirty="0" smtClean="0"/>
              <a:t>Example plugin:</a:t>
            </a:r>
          </a:p>
          <a:p>
            <a:pPr lvl="4"/>
            <a:r>
              <a:rPr lang="en-GB" sz="2000" dirty="0" smtClean="0"/>
              <a:t>&lt;build&gt;</a:t>
            </a:r>
          </a:p>
          <a:p>
            <a:pPr lvl="4"/>
            <a:r>
              <a:rPr lang="en-GB" sz="2000" dirty="0" smtClean="0"/>
              <a:t>    &lt;plugins&gt;</a:t>
            </a:r>
          </a:p>
          <a:p>
            <a:pPr lvl="4"/>
            <a:r>
              <a:rPr lang="en-GB" sz="2000" dirty="0" smtClean="0"/>
              <a:t>        &lt;plugin&gt;</a:t>
            </a:r>
          </a:p>
          <a:p>
            <a:pPr lvl="4"/>
            <a:r>
              <a:rPr lang="en-GB" sz="2000" dirty="0" smtClean="0"/>
              <a:t>            &lt;</a:t>
            </a:r>
            <a:r>
              <a:rPr lang="en-GB" sz="2000" dirty="0" err="1" smtClean="0"/>
              <a:t>groupId</a:t>
            </a:r>
            <a:r>
              <a:rPr lang="en-GB" sz="2000" dirty="0" smtClean="0"/>
              <a:t>&gt;</a:t>
            </a:r>
            <a:r>
              <a:rPr lang="en-GB" sz="2000" dirty="0" err="1" smtClean="0"/>
              <a:t>org.apache.maven.plugins</a:t>
            </a:r>
            <a:r>
              <a:rPr lang="en-GB" sz="2000" dirty="0" smtClean="0"/>
              <a:t>&lt;/</a:t>
            </a:r>
            <a:r>
              <a:rPr lang="en-GB" sz="2000" dirty="0" err="1" smtClean="0"/>
              <a:t>groupId</a:t>
            </a:r>
            <a:r>
              <a:rPr lang="en-GB" sz="2000" dirty="0" smtClean="0"/>
              <a:t>&gt;</a:t>
            </a:r>
          </a:p>
          <a:p>
            <a:pPr lvl="4"/>
            <a:r>
              <a:rPr lang="en-GB" sz="2000" dirty="0" smtClean="0"/>
              <a:t>            &lt;</a:t>
            </a:r>
            <a:r>
              <a:rPr lang="en-GB" sz="2000" dirty="0" err="1" smtClean="0"/>
              <a:t>artifactId</a:t>
            </a:r>
            <a:r>
              <a:rPr lang="en-GB" sz="2000" dirty="0" smtClean="0"/>
              <a:t>&gt;maven-compiler-plugin&lt;/</a:t>
            </a:r>
            <a:r>
              <a:rPr lang="en-GB" sz="2000" dirty="0" err="1" smtClean="0"/>
              <a:t>artifactId</a:t>
            </a:r>
            <a:r>
              <a:rPr lang="en-GB" sz="2000" dirty="0" smtClean="0"/>
              <a:t>&gt;</a:t>
            </a:r>
          </a:p>
          <a:p>
            <a:pPr lvl="4"/>
            <a:r>
              <a:rPr lang="en-GB" sz="2000" dirty="0" smtClean="0"/>
              <a:t>            &lt;version&gt;3.8.1&lt;/version&gt;</a:t>
            </a:r>
          </a:p>
          <a:p>
            <a:pPr lvl="4"/>
            <a:r>
              <a:rPr lang="en-GB" sz="2000" dirty="0" smtClean="0"/>
              <a:t>            &lt;configuration&gt;</a:t>
            </a:r>
          </a:p>
          <a:p>
            <a:pPr lvl="4"/>
            <a:r>
              <a:rPr lang="en-GB" sz="2000" dirty="0" smtClean="0"/>
              <a:t>                &lt;source&gt;17&lt;/source&gt;</a:t>
            </a:r>
          </a:p>
          <a:p>
            <a:pPr lvl="4"/>
            <a:r>
              <a:rPr lang="en-GB" sz="2000" dirty="0" smtClean="0"/>
              <a:t>                &lt;target&gt;17&lt;/target&gt;</a:t>
            </a:r>
          </a:p>
          <a:p>
            <a:pPr lvl="4"/>
            <a:r>
              <a:rPr lang="en-GB" sz="2000" dirty="0" smtClean="0"/>
              <a:t>            &lt;/configuration&gt;</a:t>
            </a:r>
          </a:p>
          <a:p>
            <a:pPr lvl="4"/>
            <a:r>
              <a:rPr lang="en-GB" sz="2000" dirty="0" smtClean="0"/>
              <a:t>        &lt;/plugin&gt;</a:t>
            </a:r>
          </a:p>
          <a:p>
            <a:pPr lvl="4"/>
            <a:r>
              <a:rPr lang="en-GB" sz="2000" dirty="0" smtClean="0"/>
              <a:t>    &lt;/plugins&gt;</a:t>
            </a:r>
          </a:p>
          <a:p>
            <a:pPr lvl="4"/>
            <a:r>
              <a:rPr lang="en-GB" sz="2000" dirty="0" smtClean="0"/>
              <a:t>&lt;/build&gt;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47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15" y="1084082"/>
            <a:ext cx="10070969" cy="5410986"/>
          </a:xfrm>
        </p:spPr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15" y="446567"/>
            <a:ext cx="839891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916" y="217390"/>
            <a:ext cx="9144000" cy="65930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469" y="1084082"/>
            <a:ext cx="10564415" cy="5410986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endParaRPr lang="en-GB" dirty="0" smtClean="0"/>
          </a:p>
          <a:p>
            <a:r>
              <a:rPr lang="en-GB" dirty="0" err="1" smtClean="0"/>
              <a:t>mvn</a:t>
            </a:r>
            <a:r>
              <a:rPr lang="en-GB" dirty="0" smtClean="0"/>
              <a:t> archetype:generate -DgroupId=</a:t>
            </a:r>
            <a:r>
              <a:rPr lang="en-GB" dirty="0" err="1" smtClean="0"/>
              <a:t>com.example</a:t>
            </a:r>
            <a:r>
              <a:rPr lang="en-GB" dirty="0" smtClean="0"/>
              <a:t> -DartifactId=</a:t>
            </a:r>
            <a:r>
              <a:rPr lang="en-GB" dirty="0" err="1" smtClean="0"/>
              <a:t>myproject</a:t>
            </a:r>
            <a:endParaRPr lang="en-GB" dirty="0" smtClean="0"/>
          </a:p>
          <a:p>
            <a:r>
              <a:rPr lang="en-GB" dirty="0" smtClean="0"/>
              <a:t> -DarchetypeArtifactId=maven-archetype-</a:t>
            </a:r>
            <a:r>
              <a:rPr lang="en-GB" dirty="0" err="1" smtClean="0"/>
              <a:t>quickstart</a:t>
            </a:r>
            <a:r>
              <a:rPr lang="en-GB" dirty="0" smtClean="0"/>
              <a:t> -</a:t>
            </a:r>
            <a:r>
              <a:rPr lang="en-GB" dirty="0" err="1" smtClean="0"/>
              <a:t>DinteractiveMode</a:t>
            </a:r>
            <a:r>
              <a:rPr lang="en-GB" dirty="0" smtClean="0"/>
              <a:t>=false</a:t>
            </a:r>
          </a:p>
          <a:p>
            <a:pPr algn="l"/>
            <a:r>
              <a:rPr lang="en-GB" dirty="0" smtClean="0">
                <a:solidFill>
                  <a:srgbClr val="FF0000"/>
                </a:solidFill>
              </a:rPr>
              <a:t>-D = Define parameter for Maven command.</a:t>
            </a:r>
          </a:p>
          <a:p>
            <a:endParaRPr lang="en-GB" dirty="0" smtClean="0"/>
          </a:p>
          <a:p>
            <a:pPr algn="l"/>
            <a:endParaRPr lang="en-GB" dirty="0" smtClean="0"/>
          </a:p>
          <a:p>
            <a:pPr algn="l"/>
            <a:r>
              <a:rPr lang="en-GB" b="1" dirty="0" smtClean="0"/>
              <a:t>Using Eclipse:</a:t>
            </a:r>
          </a:p>
          <a:p>
            <a:pPr algn="l">
              <a:buFont typeface="+mj-lt"/>
              <a:buAutoNum type="arabicPeriod"/>
            </a:pPr>
            <a:r>
              <a:rPr lang="en-GB" dirty="0" smtClean="0"/>
              <a:t>File → New → Maven Project</a:t>
            </a:r>
          </a:p>
          <a:p>
            <a:pPr algn="l">
              <a:buFont typeface="+mj-lt"/>
              <a:buAutoNum type="arabicPeriod"/>
            </a:pPr>
            <a:r>
              <a:rPr lang="en-GB" dirty="0" smtClean="0"/>
              <a:t>Use </a:t>
            </a:r>
            <a:r>
              <a:rPr lang="en-GB" dirty="0" err="1" smtClean="0"/>
              <a:t>Quickstart</a:t>
            </a:r>
            <a:r>
              <a:rPr lang="en-GB" dirty="0" smtClean="0"/>
              <a:t> archetype</a:t>
            </a:r>
          </a:p>
          <a:p>
            <a:pPr algn="l">
              <a:buFont typeface="+mj-lt"/>
              <a:buAutoNum type="arabicPeriod"/>
            </a:pPr>
            <a:r>
              <a:rPr lang="en-GB" dirty="0" smtClean="0"/>
              <a:t>Fill </a:t>
            </a:r>
            <a:r>
              <a:rPr lang="en-GB" dirty="0" err="1" smtClean="0"/>
              <a:t>groupId</a:t>
            </a:r>
            <a:r>
              <a:rPr lang="en-GB" dirty="0" smtClean="0"/>
              <a:t> and </a:t>
            </a:r>
            <a:r>
              <a:rPr lang="en-GB" dirty="0" err="1" smtClean="0"/>
              <a:t>artifactId</a:t>
            </a:r>
            <a:endParaRPr lang="en-GB" dirty="0" smtClean="0"/>
          </a:p>
          <a:p>
            <a:pPr algn="l">
              <a:buFont typeface="+mj-lt"/>
              <a:buAutoNum type="arabicPeriod"/>
            </a:pPr>
            <a:r>
              <a:rPr lang="en-GB" dirty="0" smtClean="0"/>
              <a:t>Done!</a:t>
            </a:r>
          </a:p>
          <a:p>
            <a:endParaRPr lang="en-GB" dirty="0" smtClean="0"/>
          </a:p>
        </p:txBody>
      </p:sp>
      <p:sp>
        <p:nvSpPr>
          <p:cNvPr id="4" name="Rectangle 3"/>
          <p:cNvSpPr/>
          <p:nvPr/>
        </p:nvSpPr>
        <p:spPr>
          <a:xfrm>
            <a:off x="719469" y="547041"/>
            <a:ext cx="85202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⭐ 9. Creating a Maven Project</a:t>
            </a:r>
          </a:p>
          <a:p>
            <a:endParaRPr lang="en-GB" sz="2400" b="1" dirty="0"/>
          </a:p>
          <a:p>
            <a:r>
              <a:rPr lang="en-GB" sz="2400" b="1" dirty="0" smtClean="0"/>
              <a:t> Using Command Line:</a:t>
            </a:r>
          </a:p>
          <a:p>
            <a:endParaRPr lang="en-GB" sz="2400" b="1" dirty="0" smtClean="0"/>
          </a:p>
          <a:p>
            <a:endParaRPr lang="en-GB" sz="2400" b="1" dirty="0" smtClean="0"/>
          </a:p>
          <a:p>
            <a:endParaRPr lang="en-GB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338" y="3185017"/>
            <a:ext cx="5843546" cy="339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20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446" y="634778"/>
            <a:ext cx="10515600" cy="5415147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⭐ 10. Advantages of Maven</a:t>
            </a:r>
          </a:p>
          <a:p>
            <a:pPr marL="457200" lvl="1" indent="0">
              <a:buNone/>
            </a:pPr>
            <a:r>
              <a:rPr lang="en-IN" sz="3200" dirty="0" smtClean="0"/>
              <a:t>✔ Simple project creation</a:t>
            </a:r>
            <a:br>
              <a:rPr lang="en-IN" sz="3200" dirty="0" smtClean="0"/>
            </a:br>
            <a:r>
              <a:rPr lang="en-IN" sz="3200" dirty="0" smtClean="0"/>
              <a:t>✔ Automatically downloads dependencies</a:t>
            </a:r>
            <a:br>
              <a:rPr lang="en-IN" sz="3200" dirty="0" smtClean="0"/>
            </a:br>
            <a:r>
              <a:rPr lang="en-IN" sz="3200" dirty="0" smtClean="0"/>
              <a:t>✔ Standard directory structure</a:t>
            </a:r>
            <a:br>
              <a:rPr lang="en-IN" sz="3200" dirty="0" smtClean="0"/>
            </a:br>
            <a:r>
              <a:rPr lang="en-IN" sz="3200" dirty="0" smtClean="0"/>
              <a:t>✔ Easy build (clean, compile, package)</a:t>
            </a:r>
            <a:br>
              <a:rPr lang="en-IN" sz="3200" dirty="0" smtClean="0"/>
            </a:br>
            <a:r>
              <a:rPr lang="en-IN" sz="3200" dirty="0" smtClean="0"/>
              <a:t>✔ Supports large enterprise-level projects</a:t>
            </a:r>
            <a:br>
              <a:rPr lang="en-IN" sz="3200" dirty="0" smtClean="0"/>
            </a:br>
            <a:r>
              <a:rPr lang="en-IN" sz="3200" dirty="0" smtClean="0"/>
              <a:t>✔ Integrates with Jenkins, GitHub CI/CD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10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428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mayuri</dc:creator>
  <cp:lastModifiedBy>mayuri</cp:lastModifiedBy>
  <cp:revision>13</cp:revision>
  <dcterms:created xsi:type="dcterms:W3CDTF">2025-12-04T04:26:38Z</dcterms:created>
  <dcterms:modified xsi:type="dcterms:W3CDTF">2025-12-04T06:01:34Z</dcterms:modified>
</cp:coreProperties>
</file>